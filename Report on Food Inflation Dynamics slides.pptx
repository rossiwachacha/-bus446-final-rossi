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8" r:id="rId3"/>
    <p:sldId id="259" r:id="rId4"/>
    <p:sldId id="266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>
      <p:cViewPr varScale="1">
        <p:scale>
          <a:sx n="77" d="100"/>
          <a:sy n="77" d="100"/>
        </p:scale>
        <p:origin x="408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629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66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714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61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71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640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11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34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81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11/28/2025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30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41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759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82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35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45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11/28/2025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975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11/28/2025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5679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0786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11/28/2025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9770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444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11/28/2025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384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093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11/28/2025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681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11/28/2025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656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11/28/2025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3476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7652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3237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988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249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2483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1449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7594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48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280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4263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07899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46176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030736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0798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62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0859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15681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454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55645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087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2807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565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839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0930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18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48" r:id="rId2"/>
    <p:sldLayoutId id="2147483750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  <p:sldLayoutId id="2147483739" r:id="rId41"/>
    <p:sldLayoutId id="2147483740" r:id="rId42"/>
    <p:sldLayoutId id="2147483741" r:id="rId43"/>
    <p:sldLayoutId id="2147483742" r:id="rId44"/>
    <p:sldLayoutId id="2147483743" r:id="rId45"/>
    <p:sldLayoutId id="2147483744" r:id="rId46"/>
    <p:sldLayoutId id="2147483745" r:id="rId47"/>
    <p:sldLayoutId id="2147483746" r:id="rId48"/>
    <p:sldLayoutId id="2147483747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market-vegetables-market-stall-food-1092519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fruits-apples-exotic-healthy-food-390259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fruits-apples-exotic-healthy-food-390259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fruits-apples-exotic-healthy-food-390259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fruits-apples-exotic-healthy-food-390259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fruits-apples-exotic-healthy-food-390259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fruits-apples-exotic-healthy-food-390259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fruits-apples-exotic-healthy-food-390259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018F0-0A7E-E606-E210-FA8E2E53C7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/>
          <a:p>
            <a:r>
              <a:rPr lang="en-US" dirty="0"/>
              <a:t>Report on Food Inflation Dynamics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D4DD72-3856-8D0F-1409-84D2D5305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>
            <a:normAutofit/>
          </a:bodyPr>
          <a:lstStyle/>
          <a:p>
            <a:r>
              <a:rPr lang="en-US" dirty="0"/>
              <a:t>By: Evan Hooper, Russel Ange, Rossi </a:t>
            </a:r>
            <a:r>
              <a:rPr lang="en-US" dirty="0" err="1"/>
              <a:t>Wachacha</a:t>
            </a:r>
            <a:r>
              <a:rPr lang="en-US" dirty="0"/>
              <a:t>, Layton Allen, Jackson Moseley </a:t>
            </a:r>
          </a:p>
        </p:txBody>
      </p:sp>
      <p:pic>
        <p:nvPicPr>
          <p:cNvPr id="5" name="Picture Placeholder 4" descr="A market with vegetables and signs&#10;&#10;AI-generated content may be incorrect.">
            <a:extLst>
              <a:ext uri="{FF2B5EF4-FFF2-40B4-BE49-F238E27FC236}">
                <a16:creationId xmlns:a16="http://schemas.microsoft.com/office/drawing/2014/main" id="{E481DFD3-11BC-2A76-85BA-5A9839B22E3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2734" b="22734"/>
          <a:stretch>
            <a:fillRect/>
          </a:stretch>
        </p:blipFill>
        <p:spPr>
          <a:xfrm>
            <a:off x="0" y="0"/>
            <a:ext cx="12192000" cy="4986338"/>
          </a:xfrm>
        </p:spPr>
      </p:pic>
    </p:spTree>
    <p:extLst>
      <p:ext uri="{BB962C8B-B14F-4D97-AF65-F5344CB8AC3E}">
        <p14:creationId xmlns:p14="http://schemas.microsoft.com/office/powerpoint/2010/main" val="2149364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9F98F-C183-FD14-5F0D-A87F5B1A3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Objectives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3677B-3A8D-7964-8EED-D736529A477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First, we wanted to understand how expected producer prices (PPI) relate to expected consumer prices (CPI) across major food categories; in order to see how inflationary pressures move through the supply chain. </a:t>
            </a:r>
          </a:p>
          <a:p>
            <a:r>
              <a:rPr lang="en-US" dirty="0"/>
              <a:t>Second, we aimed to identify which CPI categories show the biggest differences between short-term (month-to-month) and long-term (year-over-year) inflation, helping us pinpoint areas of volatility that consumers are most likely to feel. </a:t>
            </a:r>
          </a:p>
          <a:p>
            <a:r>
              <a:rPr lang="en-US" dirty="0"/>
              <a:t>Third, we examined the accuracy and reliability of forecasted PPI prediction intervals compared to expected CPI values, to assess whether inflation forecasts realistically capture uncertainty and pass-through effects. </a:t>
            </a:r>
          </a:p>
        </p:txBody>
      </p:sp>
      <p:pic>
        <p:nvPicPr>
          <p:cNvPr id="6" name="Picture Placeholder 5" descr="A pile of fruit on a table&#10;&#10;AI-generated content may be incorrect.">
            <a:extLst>
              <a:ext uri="{FF2B5EF4-FFF2-40B4-BE49-F238E27FC236}">
                <a16:creationId xmlns:a16="http://schemas.microsoft.com/office/drawing/2014/main" id="{70511B3A-07D8-8DFB-119F-1401675DB34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0194" r="3019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0215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3E6FE-FE37-1C3B-12F1-48499A480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Methodology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F5D6C-8761-8471-3E57-149A07BEFAE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b="1" dirty="0"/>
              <a:t>Excel charts (historical trends): </a:t>
            </a:r>
            <a:r>
              <a:rPr lang="en-US" dirty="0"/>
              <a:t>Showed long‑run CPI and PPI patterns, seasonal peaks, and how producer prices track consumer prices over time.</a:t>
            </a:r>
          </a:p>
          <a:p>
            <a:r>
              <a:rPr lang="en-US" b="1" dirty="0"/>
              <a:t>Tableau dashboards (forecast dynamics): </a:t>
            </a:r>
            <a:r>
              <a:rPr lang="en-US" dirty="0"/>
              <a:t>Highlighted pass‑through strength across categories, volatility hotspots like beef and eggs, and CPI–PPI gaps.</a:t>
            </a:r>
          </a:p>
          <a:p>
            <a:r>
              <a:rPr lang="en-US" b="1" dirty="0"/>
              <a:t>Integrated insights: </a:t>
            </a:r>
            <a:r>
              <a:rPr lang="en-US" dirty="0"/>
              <a:t>Combining Excel and Tableau revealed both historical context and forecast uncertainty, making inflation trends clear and actionable.</a:t>
            </a:r>
          </a:p>
          <a:p>
            <a:endParaRPr lang="en-US" dirty="0"/>
          </a:p>
        </p:txBody>
      </p:sp>
      <p:pic>
        <p:nvPicPr>
          <p:cNvPr id="10" name="Picture Placeholder 9" descr="A pile of fruit on a table&#10;&#10;AI-generated content may be incorrect.">
            <a:extLst>
              <a:ext uri="{FF2B5EF4-FFF2-40B4-BE49-F238E27FC236}">
                <a16:creationId xmlns:a16="http://schemas.microsoft.com/office/drawing/2014/main" id="{19378FD5-B32F-6BE1-74CB-1FDB429D23D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0194" r="3019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78172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BE931-5F0D-FBFD-0551-E70A8C326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PPI to CPI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AEAFD-46FD-B06A-BCF5-3BBE66A8E4C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Strong pass‑through in beef &amp; eggs:</a:t>
            </a:r>
            <a:r>
              <a:rPr lang="en-US" dirty="0"/>
              <a:t> Excel line charts and Tableau dashboards show steep producer price increases mirrored in consumer prices, with volatility persisting into 2026.</a:t>
            </a:r>
          </a:p>
          <a:p>
            <a:r>
              <a:rPr lang="en-US" b="1" dirty="0"/>
              <a:t>Weaker links in pork &amp; poultry:</a:t>
            </a:r>
            <a:r>
              <a:rPr lang="en-US" dirty="0"/>
              <a:t> Tableau gap analysis highlights only modest CPI changes despite wholesale increases.</a:t>
            </a:r>
          </a:p>
          <a:p>
            <a:r>
              <a:rPr lang="en-US" b="1" dirty="0"/>
              <a:t>Muted or smoothed categories:</a:t>
            </a:r>
            <a:r>
              <a:rPr lang="en-US" dirty="0"/>
              <a:t> Excel regression charts and Tableau dashboards show dairy, cereals, fats/oils, and produce with limited pass‑through, as retail smoothing keeps consumer prices stable even when farm‑level costs decline.</a:t>
            </a:r>
          </a:p>
        </p:txBody>
      </p:sp>
      <p:pic>
        <p:nvPicPr>
          <p:cNvPr id="6" name="Picture Placeholder 5" descr="A pile of fruit on a table&#10;&#10;AI-generated content may be incorrect.">
            <a:extLst>
              <a:ext uri="{FF2B5EF4-FFF2-40B4-BE49-F238E27FC236}">
                <a16:creationId xmlns:a16="http://schemas.microsoft.com/office/drawing/2014/main" id="{D597617C-8589-2ADF-B158-B3E0B5E105B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0194" r="3019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52499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4CEE1-B9DD-BF2A-ADEF-B07FC12FE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CPI Short-Term vs Long-Term Volatility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17A91-5CCC-3F31-D7F4-E5E35AE4242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b="1" dirty="0"/>
              <a:t>Beef &amp; veal volatility:</a:t>
            </a:r>
            <a:r>
              <a:rPr lang="en-US" dirty="0"/>
              <a:t> Excel tables show a 2.7% monthly increase, while Tableau dashboards reveal a much larger 13.9% annual rise, signaling strong momentum.</a:t>
            </a:r>
          </a:p>
          <a:p>
            <a:r>
              <a:rPr lang="en-US" b="1" dirty="0"/>
              <a:t>Egg instability:</a:t>
            </a:r>
            <a:r>
              <a:rPr lang="en-US" dirty="0"/>
              <a:t> Excel data shows a slight monthly decline, but Tableau charts capture a double‑digit annual increase and a 31.7% year‑to‑date surge.</a:t>
            </a:r>
          </a:p>
          <a:p>
            <a:r>
              <a:rPr lang="en-US" b="1" dirty="0"/>
              <a:t>Category contrasts:</a:t>
            </a:r>
            <a:r>
              <a:rPr lang="en-US" dirty="0"/>
              <a:t> Tableau comparisons highlight broader meats and beverages with notable short‑ vs long‑term gaps, while Excel and Tableau outputs confirm staples like dairy, cereals, and bakery products remain relatively steady.</a:t>
            </a:r>
          </a:p>
        </p:txBody>
      </p:sp>
      <p:pic>
        <p:nvPicPr>
          <p:cNvPr id="6" name="Picture Placeholder 5" descr="A pile of fruit on a table&#10;&#10;AI-generated content may be incorrect.">
            <a:extLst>
              <a:ext uri="{FF2B5EF4-FFF2-40B4-BE49-F238E27FC236}">
                <a16:creationId xmlns:a16="http://schemas.microsoft.com/office/drawing/2014/main" id="{438D2180-BABB-BD35-15FE-069E63ED73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0194" r="3019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91685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C4523-98D8-4205-2A78-917D1E8E9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Forecast Intervals and Reliability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9DFCE-6468-7BA3-1076-70C500EE734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b="1" dirty="0"/>
              <a:t>Wide ranges in volatile categories:</a:t>
            </a:r>
            <a:r>
              <a:rPr lang="en-US" dirty="0"/>
              <a:t> Tableau scatter plots and Excel tables show cattle and eggs with the broadest prediction intervals, reflecting structural shocks.</a:t>
            </a:r>
          </a:p>
          <a:p>
            <a:r>
              <a:rPr lang="en-US" b="1" dirty="0"/>
              <a:t>Partial pass‑through:</a:t>
            </a:r>
            <a:r>
              <a:rPr lang="en-US" dirty="0"/>
              <a:t> Excel forecasts for cattle span 18–27% in 2025, while Tableau plots show CPI beef rising only ~9.5%, evidence of retail smoothing.</a:t>
            </a:r>
          </a:p>
          <a:p>
            <a:r>
              <a:rPr lang="en-US" b="1" dirty="0"/>
              <a:t>Moderated volatility in eggs:</a:t>
            </a:r>
            <a:r>
              <a:rPr lang="en-US" dirty="0"/>
              <a:t> Excel projects extreme ranges (23–61% in 2025, –76 to 127% in 2026), but Tableau visuals confirm CPI eggs track the same direction at smaller magnitudes, showing consumer markets buffer households from full producer swings.</a:t>
            </a:r>
          </a:p>
        </p:txBody>
      </p:sp>
      <p:pic>
        <p:nvPicPr>
          <p:cNvPr id="6" name="Picture Placeholder 5" descr="A pile of fruit on a table&#10;&#10;AI-generated content may be incorrect.">
            <a:extLst>
              <a:ext uri="{FF2B5EF4-FFF2-40B4-BE49-F238E27FC236}">
                <a16:creationId xmlns:a16="http://schemas.microsoft.com/office/drawing/2014/main" id="{402E4799-D9F0-B947-038C-2ECE14727BD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0194" r="3019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48785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18CE2-1A1C-79F6-341D-B40F28A8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Findings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EB2B2-8B4E-B8EB-F0D3-47D2C35DCE6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Uneven pass‑through:</a:t>
            </a:r>
            <a:r>
              <a:rPr lang="en-US" dirty="0"/>
              <a:t> Excel forecast tables and Tableau dashboards show beef and eggs with strong producer‑to‑consumer transmission, while dairy, cereals, and produce remain muted due to processing and retail smoothing.</a:t>
            </a:r>
          </a:p>
          <a:p>
            <a:r>
              <a:rPr lang="en-US" b="1" dirty="0"/>
              <a:t>Volatility concentrated in proteins:</a:t>
            </a:r>
            <a:r>
              <a:rPr lang="en-US" dirty="0"/>
              <a:t> Tableau short‑ vs long‑term CPI charts highlight beef and eggs as highly unpredictable, with wide forecast ranges in Excel and moderated CPI midpoints confirming partial pass‑through.</a:t>
            </a:r>
          </a:p>
          <a:p>
            <a:r>
              <a:rPr lang="en-US" b="1" dirty="0"/>
              <a:t>Retail smoothing effects:</a:t>
            </a:r>
            <a:r>
              <a:rPr lang="en-US" dirty="0"/>
              <a:t> Excel multi‑year bar charts and Tableau dashboards on fruits and vegetables show farm‑level swings but stable consumer prices, underscoring how retail dynamics buffer households from extreme shocks.</a:t>
            </a:r>
          </a:p>
        </p:txBody>
      </p:sp>
      <p:pic>
        <p:nvPicPr>
          <p:cNvPr id="7" name="Picture Placeholder 6" descr="A pile of fruit on a table&#10;&#10;AI-generated content may be incorrect.">
            <a:extLst>
              <a:ext uri="{FF2B5EF4-FFF2-40B4-BE49-F238E27FC236}">
                <a16:creationId xmlns:a16="http://schemas.microsoft.com/office/drawing/2014/main" id="{3961F935-5B14-083C-491D-FEAA717DB7F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0194" r="3019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48845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AB70F-B142-F0F1-9126-5DC24E688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Tableau Charts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4EF7C-2679-4509-358D-C31CF69C1AE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03E87F5-7803-71E0-BCA9-D7655AF9E5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46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FF34A-8EE3-0505-0717-9C403E78E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Excel Charts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B558C-D8EF-610A-BC5C-2B0EA0DB674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45A7FFB-DD8A-ECDD-9B19-496380C9D8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15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1AE97-6DFE-F47D-C891-E980D26B9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60C48-BD41-8FC6-B91F-73FA62EFA26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Integrated approach:</a:t>
            </a:r>
            <a:r>
              <a:rPr lang="en-US" dirty="0"/>
              <a:t> Excel forecast tables and Tableau dashboards together provide a structured view of inflation dynamics across the food supply chain.</a:t>
            </a:r>
          </a:p>
          <a:p>
            <a:r>
              <a:rPr lang="en-US" b="1" dirty="0"/>
              <a:t>Key insights:</a:t>
            </a:r>
            <a:r>
              <a:rPr lang="en-US" dirty="0"/>
              <a:t> Excel charts quantified historical trends and forecast ranges, while Tableau visuals highlighted pass‑through strength, volatility hotspots, and CPI–PPI gaps.</a:t>
            </a:r>
          </a:p>
          <a:p>
            <a:r>
              <a:rPr lang="en-US" b="1" dirty="0"/>
              <a:t>Practical framework:</a:t>
            </a:r>
            <a:r>
              <a:rPr lang="en-US" dirty="0"/>
              <a:t> Findings show where producer costs most affect consumers, how volatility is moderated, and offer guidance for policymakers, retailers, and households to anticipate and manage inflationary pressures.</a:t>
            </a:r>
          </a:p>
        </p:txBody>
      </p:sp>
      <p:pic>
        <p:nvPicPr>
          <p:cNvPr id="6" name="Picture Placeholder 5" descr="A pile of fruit on a table&#10;&#10;AI-generated content may be incorrect.">
            <a:extLst>
              <a:ext uri="{FF2B5EF4-FFF2-40B4-BE49-F238E27FC236}">
                <a16:creationId xmlns:a16="http://schemas.microsoft.com/office/drawing/2014/main" id="{BA0C53B2-C794-321B-5DF6-3DC419021F4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0194" r="3019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44459633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736</Words>
  <Application>Microsoft Office PowerPoint</Application>
  <PresentationFormat>Widescreen</PresentationFormat>
  <Paragraphs>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Neue Haas Grotesk Text Pro</vt:lpstr>
      <vt:lpstr>Helena</vt:lpstr>
      <vt:lpstr>Report on Food Inflation Dynamics</vt:lpstr>
      <vt:lpstr>Objectives </vt:lpstr>
      <vt:lpstr>Methodology  </vt:lpstr>
      <vt:lpstr>PPI to CPI Relationships</vt:lpstr>
      <vt:lpstr> CPI Short-Term vs Long-Term Volatility</vt:lpstr>
      <vt:lpstr>Forecast Intervals and Reliability </vt:lpstr>
      <vt:lpstr>Key Findings </vt:lpstr>
      <vt:lpstr>Tableau Charts </vt:lpstr>
      <vt:lpstr>Excel Charts 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Hooper</dc:creator>
  <cp:lastModifiedBy>Evan Hooper</cp:lastModifiedBy>
  <cp:revision>1</cp:revision>
  <dcterms:created xsi:type="dcterms:W3CDTF">2025-11-28T15:37:15Z</dcterms:created>
  <dcterms:modified xsi:type="dcterms:W3CDTF">2025-11-28T16:59:22Z</dcterms:modified>
</cp:coreProperties>
</file>